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Executive Summary" id="{23739018-366b-0a0c-7ab4-cd199db35c28}">
          <p14:sldIdLst>
            <p14:sldId id="25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Top-down summary: answer first (discounts are not the best lever), then situation (about 9.7% churn across 14.6k SME customers), then what the model shows (precision 90%, recall 5%), then the driver finding (price sensitivity is not the primary driver). Data: client_data.csv (14,606 clients), price_data.csv (193k monthly price records). Model: Random Forest, 1000 trees, 75/25 split.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MMARY">
    <p:bg>
      <p:bgPr>
        <a:solidFill>
          <a:srgbClr val="E5E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17520" cy="5143500"/>
          </a:xfrm>
          <a:prstGeom prst="rect">
            <a:avLst/>
          </a:prstGeom>
          <a:solidFill>
            <a:srgbClr val="232326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chevron"/>
          <p:cNvSpPr/>
          <p:nvPr/>
        </p:nvSpPr>
        <p:spPr>
          <a:xfrm flipH="1">
            <a:off x="411480" y="502920"/>
            <a:ext cx="1371600" cy="1737360"/>
          </a:xfrm>
          <a:prstGeom prst="chevron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Title"/>
          <p:cNvSpPr txBox="1"/>
          <p:nvPr/>
        </p:nvSpPr>
        <p:spPr>
          <a:xfrm>
            <a:off x="411480" y="251460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Summary</a:t>
            </a:r>
            <a:endParaRPr lang="en-US" sz="3000" dirty="0"/>
          </a:p>
        </p:txBody>
      </p:sp>
      <p:sp>
        <p:nvSpPr>
          <p:cNvPr id="4" name="Subtitle"/>
          <p:cNvSpPr txBox="1"/>
          <p:nvPr/>
        </p:nvSpPr>
        <p:spPr>
          <a:xfrm>
            <a:off x="411480" y="34747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F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churn, SME division</a:t>
            </a:r>
            <a:endParaRPr lang="en-US" sz="1400" dirty="0"/>
          </a:p>
        </p:txBody>
      </p:sp>
      <p:sp>
        <p:nvSpPr>
          <p:cNvPr id="5" name="Hypothesis"/>
          <p:cNvSpPr txBox="1"/>
          <p:nvPr/>
        </p:nvSpPr>
        <p:spPr>
          <a:xfrm>
            <a:off x="411480" y="411480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FC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 tested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FC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is driven by customer price sensitivity</a:t>
            </a:r>
            <a:endParaRPr lang="en-US" sz="1200" dirty="0"/>
          </a:p>
        </p:txBody>
      </p:sp>
      <p:sp>
        <p:nvSpPr>
          <p:cNvPr id="6" name="Icon circle 1"/>
          <p:cNvSpPr/>
          <p:nvPr/>
        </p:nvSpPr>
        <p:spPr>
          <a:xfrm>
            <a:off x="3337560" y="502920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7" name="Image 0" descr="Discounts may not be the best way to cut chur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74720" y="640080"/>
            <a:ext cx="274320" cy="274320"/>
          </a:xfrm>
          <a:prstGeom prst="rect">
            <a:avLst/>
          </a:prstGeom>
        </p:spPr>
      </p:pic>
      <p:sp>
        <p:nvSpPr>
          <p:cNvPr id="8" name="Heading 1"/>
          <p:cNvSpPr txBox="1"/>
          <p:nvPr/>
        </p:nvSpPr>
        <p:spPr>
          <a:xfrm>
            <a:off x="4114800" y="45720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Discounts may not be the best way to cut churn</a:t>
            </a:r>
            <a:endParaRPr lang="en-US" sz="1600" dirty="0"/>
          </a:p>
        </p:txBody>
      </p:sp>
      <p:sp>
        <p:nvSpPr>
          <p:cNvPr id="9" name="Bullets 1"/>
          <p:cNvSpPr txBox="1"/>
          <p:nvPr/>
        </p:nvSpPr>
        <p:spPr>
          <a:xfrm>
            <a:off x="4114800" y="804672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555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are not overly price sensitive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555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targeted outreach and engagement first</a:t>
            </a:r>
            <a:endParaRPr lang="en-US" sz="1400" dirty="0"/>
          </a:p>
        </p:txBody>
      </p:sp>
      <p:sp>
        <p:nvSpPr>
          <p:cNvPr id="10" name="Icon circle 2"/>
          <p:cNvSpPr/>
          <p:nvPr/>
        </p:nvSpPr>
        <p:spPr>
          <a:xfrm>
            <a:off x="3337560" y="1581912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1" name="Image 1" descr="Churn is high in the SME divisi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0" y="1719072"/>
            <a:ext cx="274320" cy="274320"/>
          </a:xfrm>
          <a:prstGeom prst="rect">
            <a:avLst/>
          </a:prstGeom>
        </p:spPr>
      </p:pic>
      <p:sp>
        <p:nvSpPr>
          <p:cNvPr id="12" name="Heading 2"/>
          <p:cNvSpPr txBox="1"/>
          <p:nvPr/>
        </p:nvSpPr>
        <p:spPr>
          <a:xfrm>
            <a:off x="4114800" y="1536192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is high in the SME division</a:t>
            </a:r>
            <a:endParaRPr lang="en-US" sz="1600" dirty="0"/>
          </a:p>
        </p:txBody>
      </p:sp>
      <p:sp>
        <p:nvSpPr>
          <p:cNvPr id="13" name="Bullets 2"/>
          <p:cNvSpPr txBox="1"/>
          <p:nvPr/>
        </p:nvSpPr>
        <p:spPr>
          <a:xfrm>
            <a:off x="4114800" y="1883664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555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9.7% churn across 14.6k customers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555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Newer clients churn more; gas clients less (8% vs 10%)</a:t>
            </a:r>
            <a:endParaRPr lang="en-US" sz="1400" dirty="0"/>
          </a:p>
        </p:txBody>
      </p:sp>
      <p:sp>
        <p:nvSpPr>
          <p:cNvPr id="14" name="Icon circle 3"/>
          <p:cNvSpPr/>
          <p:nvPr/>
        </p:nvSpPr>
        <p:spPr>
          <a:xfrm>
            <a:off x="3337560" y="2660904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5" name="Image 2" descr="Churn can be measured and predicted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0" y="2798064"/>
            <a:ext cx="274320" cy="274320"/>
          </a:xfrm>
          <a:prstGeom prst="rect">
            <a:avLst/>
          </a:prstGeom>
        </p:spPr>
      </p:pic>
      <p:sp>
        <p:nvSpPr>
          <p:cNvPr id="16" name="Heading 3"/>
          <p:cNvSpPr txBox="1"/>
          <p:nvPr/>
        </p:nvSpPr>
        <p:spPr>
          <a:xfrm>
            <a:off x="4114800" y="2615184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can be measured and predicted</a:t>
            </a:r>
            <a:endParaRPr lang="en-US" sz="1600" dirty="0"/>
          </a:p>
        </p:txBody>
      </p:sp>
      <p:sp>
        <p:nvSpPr>
          <p:cNvPr id="17" name="Bullets 3"/>
          <p:cNvSpPr txBox="1"/>
          <p:nvPr/>
        </p:nvSpPr>
        <p:spPr>
          <a:xfrm>
            <a:off x="4114800" y="2962656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555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on usage, margin, contract, price data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555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90% but recall only 5%, needs work</a:t>
            </a:r>
            <a:endParaRPr lang="en-US" sz="1400" dirty="0"/>
          </a:p>
        </p:txBody>
      </p:sp>
      <p:sp>
        <p:nvSpPr>
          <p:cNvPr id="18" name="Icon circle 4"/>
          <p:cNvSpPr/>
          <p:nvPr/>
        </p:nvSpPr>
        <p:spPr>
          <a:xfrm>
            <a:off x="3337560" y="3739896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9" name="Image 3" descr="Price sensitivity is not the primary driver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4720" y="3877056"/>
            <a:ext cx="274320" cy="274320"/>
          </a:xfrm>
          <a:prstGeom prst="rect">
            <a:avLst/>
          </a:prstGeom>
        </p:spPr>
      </p:pic>
      <p:sp>
        <p:nvSpPr>
          <p:cNvPr id="20" name="Heading 4"/>
          <p:cNvSpPr txBox="1"/>
          <p:nvPr/>
        </p:nvSpPr>
        <p:spPr>
          <a:xfrm>
            <a:off x="4114800" y="3694176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sensitivity is not the primary driver</a:t>
            </a:r>
            <a:endParaRPr lang="en-US" sz="1600" dirty="0"/>
          </a:p>
        </p:txBody>
      </p:sp>
      <p:sp>
        <p:nvSpPr>
          <p:cNvPr id="21" name="Bullets 4"/>
          <p:cNvSpPr txBox="1"/>
          <p:nvPr/>
        </p:nvSpPr>
        <p:spPr>
          <a:xfrm>
            <a:off x="4114800" y="4041648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555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Consumption, meter rent and margins lead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555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Price-change features add only a weak signal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urn Summary">
  <a:themeElements>
    <a:clrScheme name="Churn Summary">
      <a:dk1>
        <a:srgbClr val="232326"/>
      </a:dk1>
      <a:lt1>
        <a:srgbClr val="FFFFFF"/>
      </a:lt1>
      <a:dk2>
        <a:srgbClr val="007A6E"/>
      </a:dk2>
      <a:lt2>
        <a:srgbClr val="E5E5E8"/>
      </a:lt2>
      <a:accent1>
        <a:srgbClr val="00FFCC"/>
      </a:accent1>
      <a:accent2>
        <a:srgbClr val="555559"/>
      </a:accent2>
      <a:accent3>
        <a:srgbClr val="007A6E"/>
      </a:accent3>
      <a:accent4>
        <a:srgbClr val="00B39B"/>
      </a:accent4>
      <a:accent5>
        <a:srgbClr val="8A8A90"/>
      </a:accent5>
      <a:accent6>
        <a:srgbClr val="CFCFD4"/>
      </a:accent6>
      <a:hlink>
        <a:srgbClr val="007A6E"/>
      </a:hlink>
      <a:folHlink>
        <a:srgbClr val="555559"/>
      </a:folHlink>
    </a:clrScheme>
    <a:fontScheme name="Churn Summary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Executive Summary - Customer Churn</dc:title>
  <dc:subject>PptxGenJS Presentation</dc:subject>
  <dc:creator>PptxGenJS</dc:creator>
  <cp:lastModifiedBy>PptxGenJS</cp:lastModifiedBy>
  <cp:revision>1</cp:revision>
  <dcterms:created xsi:type="dcterms:W3CDTF">2026-10-26T07:15:39Z</dcterms:created>
  <dcterms:modified xsi:type="dcterms:W3CDTF">2026-10-26T07:15:39Z</dcterms:modified>
</cp:coreProperties>
</file>